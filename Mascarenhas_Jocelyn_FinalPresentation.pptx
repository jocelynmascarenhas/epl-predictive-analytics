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9"/>
  </p:notesMasterIdLst>
  <p:sldIdLst>
    <p:sldId id="258" r:id="rId2"/>
    <p:sldId id="274" r:id="rId3"/>
    <p:sldId id="275" r:id="rId4"/>
    <p:sldId id="276" r:id="rId5"/>
    <p:sldId id="277" r:id="rId6"/>
    <p:sldId id="278" r:id="rId7"/>
    <p:sldId id="282" r:id="rId8"/>
    <p:sldId id="279" r:id="rId9"/>
    <p:sldId id="280" r:id="rId10"/>
    <p:sldId id="281" r:id="rId11"/>
    <p:sldId id="283" r:id="rId12"/>
    <p:sldId id="290" r:id="rId13"/>
    <p:sldId id="285" r:id="rId14"/>
    <p:sldId id="286" r:id="rId15"/>
    <p:sldId id="287" r:id="rId16"/>
    <p:sldId id="288" r:id="rId17"/>
    <p:sldId id="289" r:id="rId18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CCE-4862-91A2-EC3C1DF02AE4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CCE-4862-91A2-EC3C1DF02AE4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CCE-4862-91A2-EC3C1DF02AE4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CCE-4862-91A2-EC3C1DF02AE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Home</c:v>
                </c:pt>
                <c:pt idx="1">
                  <c:v>Draw</c:v>
                </c:pt>
                <c:pt idx="2">
                  <c:v>Away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46.12</c:v>
                </c:pt>
                <c:pt idx="1">
                  <c:v>24.3</c:v>
                </c:pt>
                <c:pt idx="2">
                  <c:v>29.58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55-45FD-9E55-90996079C03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27669e55c1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27669e55c1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127669e55c1_0_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Content 1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3 - Photo of campus Student Learning Centre at dusk with students walking.">
  <p:cSld name="Title Slide 4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knosys.2017.02.017" TargetMode="External"/><Relationship Id="rId7" Type="http://schemas.openxmlformats.org/officeDocument/2006/relationships/hyperlink" Target="https://doi.org/10.3233/JSA-200505" TargetMode="External"/><Relationship Id="rId2" Type="http://schemas.openxmlformats.org/officeDocument/2006/relationships/hyperlink" Target="https://doi.org/10.1371/journal.pone.0312278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38/s41597-019-0247-7" TargetMode="External"/><Relationship Id="rId5" Type="http://schemas.openxmlformats.org/officeDocument/2006/relationships/hyperlink" Target="https://doi.org/10.4236/jfrm.2025.143015" TargetMode="External"/><Relationship Id="rId4" Type="http://schemas.openxmlformats.org/officeDocument/2006/relationships/hyperlink" Target="https://doi.org/10.1209/0295-5075/89/38007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EPL- Predictive Analytics</a:t>
            </a:r>
            <a:endParaRPr dirty="0"/>
          </a:p>
        </p:txBody>
      </p:sp>
      <p:sp>
        <p:nvSpPr>
          <p:cNvPr id="99" name="Google Shape;99;p22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Jocelyn John Mascarenhas</a:t>
            </a:r>
          </a:p>
          <a:p>
            <a:pPr marL="0" lvl="0" indent="0"/>
            <a:endParaRPr lang="en-IN" dirty="0"/>
          </a:p>
          <a:p>
            <a:pPr marL="0" lvl="0" indent="0"/>
            <a:r>
              <a:rPr lang="en-IN" dirty="0"/>
              <a:t>501345877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1A84-8F24-CC77-C59B-66906132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Questions &amp; Significance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66850-4770-F314-A3B8-088509E92F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E585C-D0B8-0BB6-9524-3DBD8C8FB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Static vs. Dynamic Predictors:</a:t>
            </a:r>
            <a:r>
              <a:rPr lang="en-CA" b="1" dirty="0"/>
              <a:t> </a:t>
            </a:r>
            <a:r>
              <a:rPr lang="en-CA" dirty="0"/>
              <a:t>Which match statistics (e.g., possession, shots, fouls, passes) are the strongest predictors of winning in the EPL?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Home Advantage (HA):</a:t>
            </a:r>
            <a:r>
              <a:rPr lang="en-IN" dirty="0"/>
              <a:t> How stable and influential is the Home Advantage effect across seasons?</a:t>
            </a:r>
          </a:p>
          <a:p>
            <a:endParaRPr lang="en-IN" b="1" dirty="0"/>
          </a:p>
          <a:p>
            <a:r>
              <a:rPr lang="en-IN" b="1" dirty="0"/>
              <a:t>Momentum or Position:</a:t>
            </a:r>
            <a:r>
              <a:rPr lang="en-CA" dirty="0"/>
              <a:t>Does recent performance (last 5 matches) or average position better predict future match results?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24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4CF5-BEC2-54B1-A3A3-E6E6B220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Significance Callout: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79AC44-78C1-C090-1DD6-D69CA1BEA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E8670-AC2E-BA1C-EA7F-5FD8C1B8F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124" y="1472184"/>
            <a:ext cx="11256900" cy="4212600"/>
          </a:xfrm>
        </p:spPr>
        <p:txBody>
          <a:bodyPr/>
          <a:lstStyle/>
          <a:p>
            <a:r>
              <a:rPr lang="en-IN" b="1" dirty="0"/>
              <a:t>Core Contribution:</a:t>
            </a:r>
            <a:r>
              <a:rPr lang="en-IN" dirty="0"/>
              <a:t> We rigorously validate our model using </a:t>
            </a:r>
            <a:r>
              <a:rPr lang="en-IN" b="1" dirty="0"/>
              <a:t>Time-Series Split Cross-Validation (TSCV)</a:t>
            </a:r>
            <a:r>
              <a:rPr lang="en-IN" dirty="0"/>
              <a:t>, a necessary departure from traditional K-Fold methods, to ensure </a:t>
            </a:r>
            <a:r>
              <a:rPr lang="en-IN" b="1" dirty="0"/>
              <a:t>temporal realism</a:t>
            </a:r>
            <a:r>
              <a:rPr lang="en-IN" dirty="0"/>
              <a:t> in predictive metrics.</a:t>
            </a:r>
          </a:p>
          <a:p>
            <a:endParaRPr lang="en-IN" b="1" dirty="0"/>
          </a:p>
          <a:p>
            <a:r>
              <a:rPr lang="en-IN" b="1" dirty="0"/>
              <a:t>Goal:</a:t>
            </a:r>
            <a:r>
              <a:rPr lang="en-IN" dirty="0"/>
              <a:t> To empirically demonstrate that </a:t>
            </a:r>
            <a:r>
              <a:rPr lang="en-IN" b="1" dirty="0"/>
              <a:t>Team Momentum</a:t>
            </a:r>
            <a:r>
              <a:rPr lang="en-IN" dirty="0"/>
              <a:t> (rolling form features) provides significantly more predictive power than static league position or raw pre-match statistics.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97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951A-3A28-0005-767E-5EBE3ED3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Phased Methodology Overview(</a:t>
            </a:r>
            <a:r>
              <a:rPr lang="en-IN" dirty="0" err="1"/>
              <a:t>Modeling</a:t>
            </a:r>
            <a:r>
              <a:rPr lang="en-IN" dirty="0"/>
              <a:t> Pipeline)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78A3BF-BFB3-E330-70C5-D95D7E4F5B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12719-40AE-67B8-40B0-A8299095F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Acquisition &amp; Cleaning:</a:t>
            </a:r>
            <a:r>
              <a:rPr lang="en-IN" dirty="0"/>
              <a:t> Gathering 10+ seasons of raw match data.</a:t>
            </a:r>
          </a:p>
          <a:p>
            <a:endParaRPr lang="en-IN" b="1" dirty="0"/>
          </a:p>
          <a:p>
            <a:r>
              <a:rPr lang="en-IN" b="1" dirty="0"/>
              <a:t>Feature Engineering:</a:t>
            </a:r>
            <a:r>
              <a:rPr lang="en-IN" dirty="0"/>
              <a:t> Calculating rolling averages for momentum (Form, Goals, Points).</a:t>
            </a:r>
          </a:p>
          <a:p>
            <a:endParaRPr lang="en-IN" b="1" dirty="0"/>
          </a:p>
          <a:p>
            <a:r>
              <a:rPr lang="en-IN" b="1" dirty="0"/>
              <a:t>EDA &amp; Baseline:</a:t>
            </a:r>
            <a:r>
              <a:rPr lang="en-IN" dirty="0"/>
              <a:t> Understanding distributions and setting the performance floor (46.12%).</a:t>
            </a:r>
          </a:p>
          <a:p>
            <a:endParaRPr lang="en-IN" b="1" dirty="0"/>
          </a:p>
          <a:p>
            <a:r>
              <a:rPr lang="en-IN" b="1" dirty="0"/>
              <a:t>Advanced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Training, validation, and optimization using </a:t>
            </a:r>
            <a:r>
              <a:rPr lang="en-IN" dirty="0" err="1"/>
              <a:t>XGBoost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53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E97E-3E91-DEE4-7E01-EA17963A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Deep Dive: Preventing  Temporal Bias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A3987E-0F44-9137-B5DC-33BFD2E361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9A66F-7DEB-8DE3-8435-1D80888F8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The Issue:</a:t>
            </a:r>
            <a:r>
              <a:rPr lang="en-IN" dirty="0"/>
              <a:t> Standard K-Fold CV mixes future data into the past (Look-Ahead Bias).</a:t>
            </a:r>
          </a:p>
          <a:p>
            <a:endParaRPr lang="en-IN" b="1" dirty="0"/>
          </a:p>
          <a:p>
            <a:r>
              <a:rPr lang="en-IN" b="1" dirty="0"/>
              <a:t>The Solution:</a:t>
            </a:r>
            <a:r>
              <a:rPr lang="en-IN" dirty="0"/>
              <a:t> TSCV ensures that the </a:t>
            </a:r>
            <a:r>
              <a:rPr lang="en-IN" b="1" dirty="0"/>
              <a:t>Validation set always occurs </a:t>
            </a:r>
            <a:r>
              <a:rPr lang="en-IN" b="1" i="1" dirty="0"/>
              <a:t>after</a:t>
            </a:r>
            <a:r>
              <a:rPr lang="en-IN" b="1" dirty="0"/>
              <a:t> the Training set</a:t>
            </a:r>
            <a:r>
              <a:rPr lang="en-IN" dirty="0"/>
              <a:t> chronologically.</a:t>
            </a:r>
          </a:p>
          <a:p>
            <a:endParaRPr lang="en-IN" b="1" dirty="0"/>
          </a:p>
          <a:p>
            <a:r>
              <a:rPr lang="en-IN" b="1" dirty="0"/>
              <a:t>Benefit:</a:t>
            </a:r>
            <a:r>
              <a:rPr lang="en-IN" dirty="0"/>
              <a:t> Guarantees predictive metrics are temporally realistic and unbiased.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29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76B9-571A-9150-9ECF-BF985E90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and Feature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CAAC30-1C1F-ED5E-34A1-9D20C81704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67FC3-9FE8-390A-E310-45E49B1AA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Challenge:</a:t>
            </a:r>
            <a:r>
              <a:rPr lang="en-IN" dirty="0"/>
              <a:t> Static match stats (like Shots Diff) are weak predictors.</a:t>
            </a:r>
          </a:p>
          <a:p>
            <a:endParaRPr lang="en-IN" b="1" dirty="0"/>
          </a:p>
          <a:p>
            <a:r>
              <a:rPr lang="en-IN" b="1" dirty="0"/>
              <a:t>Solution:</a:t>
            </a:r>
            <a:r>
              <a:rPr lang="en-IN" dirty="0"/>
              <a:t> We created </a:t>
            </a:r>
            <a:r>
              <a:rPr lang="en-IN" b="1" dirty="0"/>
              <a:t>Dynamic Features</a:t>
            </a:r>
            <a:r>
              <a:rPr lang="en-IN" dirty="0"/>
              <a:t> based on rolling averages of the team's performance over the </a:t>
            </a:r>
            <a:r>
              <a:rPr lang="en-IN" i="1" dirty="0"/>
              <a:t>last 5 matches</a:t>
            </a:r>
            <a:r>
              <a:rPr lang="en-IN" dirty="0"/>
              <a:t>.</a:t>
            </a:r>
          </a:p>
          <a:p>
            <a:endParaRPr lang="en-IN" b="1" dirty="0"/>
          </a:p>
          <a:p>
            <a:r>
              <a:rPr lang="en-IN" b="1" dirty="0"/>
              <a:t>Key Features:</a:t>
            </a:r>
            <a:r>
              <a:rPr lang="en-IN" dirty="0"/>
              <a:t> Rolling Points Average, Recent Goal Difference, Form Streak.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57D66-093D-5FD2-BAE7-AABB7E1C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322" y="4374003"/>
            <a:ext cx="7759948" cy="2222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829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0F59-67D3-0204-EF63-366629363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Characterization: The Goal-Scoring Process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32BE49-BD05-C719-F14A-36AA05DD1E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35510-6F05-E963-5C7C-C9F910AA2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697" y="1099930"/>
            <a:ext cx="11256900" cy="4584854"/>
          </a:xfrm>
        </p:spPr>
        <p:txBody>
          <a:bodyPr/>
          <a:lstStyle/>
          <a:p>
            <a:r>
              <a:rPr lang="en-IN" b="1" dirty="0"/>
              <a:t>Finding:</a:t>
            </a:r>
            <a:r>
              <a:rPr lang="en-IN" dirty="0"/>
              <a:t> Home Goals Mean (1.542) and Variance (1.679) are </a:t>
            </a:r>
          </a:p>
          <a:p>
            <a:pPr marL="69850" indent="0">
              <a:buNone/>
            </a:pPr>
            <a:r>
              <a:rPr lang="en-IN" dirty="0"/>
              <a:t>approximately equal. </a:t>
            </a:r>
          </a:p>
          <a:p>
            <a:pPr marL="69850" indent="0">
              <a:buNone/>
            </a:pPr>
            <a:r>
              <a:rPr lang="en-IN" b="1" dirty="0" err="1"/>
              <a:t>Interpretation:</a:t>
            </a:r>
            <a:r>
              <a:rPr lang="en-IN" dirty="0" err="1"/>
              <a:t>This</a:t>
            </a:r>
            <a:r>
              <a:rPr lang="en-IN" dirty="0"/>
              <a:t> relationship validates the underlying assumption of a </a:t>
            </a:r>
            <a:r>
              <a:rPr lang="en-IN" b="1" dirty="0"/>
              <a:t>Poisson distribution</a:t>
            </a:r>
            <a:r>
              <a:rPr lang="en-IN" dirty="0"/>
              <a:t> for goal</a:t>
            </a:r>
          </a:p>
          <a:p>
            <a:pPr marL="69850" indent="0">
              <a:buNone/>
            </a:pPr>
            <a:r>
              <a:rPr lang="en-IN" dirty="0"/>
              <a:t> scoring. </a:t>
            </a:r>
          </a:p>
          <a:p>
            <a:r>
              <a:rPr lang="en-IN" b="1" dirty="0"/>
              <a:t>Implication:</a:t>
            </a:r>
            <a:r>
              <a:rPr lang="en-IN" dirty="0"/>
              <a:t> It confirms the</a:t>
            </a:r>
          </a:p>
          <a:p>
            <a:pPr marL="69850" indent="0">
              <a:buNone/>
            </a:pPr>
            <a:r>
              <a:rPr lang="en-IN" dirty="0"/>
              <a:t>Data is suitable for advanced  </a:t>
            </a:r>
          </a:p>
          <a:p>
            <a:pPr marL="69850" indent="0">
              <a:buNone/>
            </a:pPr>
            <a:r>
              <a:rPr lang="en-IN" dirty="0"/>
              <a:t>classification models (like  </a:t>
            </a:r>
          </a:p>
          <a:p>
            <a:pPr marL="69850" indent="0">
              <a:buNone/>
            </a:pPr>
            <a:r>
              <a:rPr lang="en-IN" dirty="0" err="1"/>
              <a:t>XGBoost</a:t>
            </a:r>
            <a:r>
              <a:rPr lang="en-IN" dirty="0"/>
              <a:t>) that handle the </a:t>
            </a:r>
          </a:p>
          <a:p>
            <a:pPr marL="69850" indent="0">
              <a:buNone/>
            </a:pPr>
            <a:r>
              <a:rPr lang="en-IN" b="1" dirty="0"/>
              <a:t>discrete and right-skewed</a:t>
            </a:r>
            <a:r>
              <a:rPr lang="en-IN" dirty="0"/>
              <a:t> </a:t>
            </a:r>
          </a:p>
          <a:p>
            <a:pPr marL="69850" indent="0">
              <a:buNone/>
            </a:pPr>
            <a:r>
              <a:rPr lang="en-IN" dirty="0"/>
              <a:t>nature of the target variables.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40146D-78F8-039A-7C7B-B5B801FC7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765" y="2544417"/>
            <a:ext cx="7630078" cy="421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27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2B39F-3A80-3959-3208-997B2616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1: Performance Floor (Home Advantage)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06A4A6-1D76-2350-2835-1F1A10C96F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9AE08-2FA3-0CCC-59A1-35032BF31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Home Win is the majority class, confirming the significant influence of Home Advantage (HA).</a:t>
            </a:r>
          </a:p>
          <a:p>
            <a:endParaRPr lang="en-IN" dirty="0"/>
          </a:p>
          <a:p>
            <a:r>
              <a:rPr lang="en-IN" dirty="0"/>
              <a:t>Our Logistic Regression baseline achieved 46.12% accuracy, meaning it simply predicted "Home Win" every time.</a:t>
            </a:r>
          </a:p>
          <a:p>
            <a:endParaRPr lang="en-IN" b="1" dirty="0"/>
          </a:p>
          <a:p>
            <a:r>
              <a:rPr lang="en-IN" b="1" dirty="0"/>
              <a:t>Challenge:</a:t>
            </a:r>
            <a:r>
              <a:rPr lang="en-IN" dirty="0"/>
              <a:t> Any advanced model must classify the remaining </a:t>
            </a:r>
            <a:r>
              <a:rPr lang="en-IN" b="1" dirty="0"/>
              <a:t>53.88% (Draw/Away Win)</a:t>
            </a:r>
            <a:r>
              <a:rPr lang="en-IN" dirty="0"/>
              <a:t> to prove value.</a:t>
            </a:r>
          </a:p>
          <a:p>
            <a:endParaRPr lang="en-IN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C6FEA57-9416-9915-A192-CFD860B492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9341201"/>
              </p:ext>
            </p:extLst>
          </p:nvPr>
        </p:nvGraphicFramePr>
        <p:xfrm>
          <a:off x="7984869" y="4444800"/>
          <a:ext cx="3945259" cy="2151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015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ECAB-7D72-87F4-68D0-29F021D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2: Static Predictors Are Weak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7FCFF6-8985-8EFF-19AB-F1F69DF4DC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74EDD-5D99-F38E-B028-1E431260A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EDA showed very low linear </a:t>
            </a:r>
          </a:p>
          <a:p>
            <a:pPr marL="69850" indent="0">
              <a:buNone/>
            </a:pPr>
            <a:r>
              <a:rPr lang="en-IN" dirty="0"/>
              <a:t>correlation between static pre-</a:t>
            </a:r>
          </a:p>
          <a:p>
            <a:pPr marL="69850" indent="0">
              <a:buNone/>
            </a:pPr>
            <a:r>
              <a:rPr lang="en-IN" dirty="0"/>
              <a:t>match attributes (Shots, Fouls,</a:t>
            </a:r>
          </a:p>
          <a:p>
            <a:pPr marL="69850" indent="0">
              <a:buNone/>
            </a:pPr>
            <a:r>
              <a:rPr lang="en-IN" dirty="0"/>
              <a:t>Corners) and the final match outcome.</a:t>
            </a:r>
          </a:p>
          <a:p>
            <a:r>
              <a:rPr lang="en-IN" dirty="0"/>
              <a:t>This empirically confirmed the need </a:t>
            </a:r>
          </a:p>
          <a:p>
            <a:pPr marL="69850" indent="0">
              <a:buNone/>
            </a:pPr>
            <a:r>
              <a:rPr lang="en-IN" dirty="0"/>
              <a:t>to move beyond simple match statistics</a:t>
            </a:r>
          </a:p>
          <a:p>
            <a:pPr marL="69850" indent="0">
              <a:buNone/>
            </a:pPr>
            <a:r>
              <a:rPr lang="en-IN" dirty="0"/>
              <a:t>and focus entirely on dynamic, </a:t>
            </a:r>
          </a:p>
          <a:p>
            <a:pPr marL="69850" indent="0">
              <a:buNone/>
            </a:pPr>
            <a:r>
              <a:rPr lang="en-IN" dirty="0"/>
              <a:t>aggregated </a:t>
            </a:r>
            <a:r>
              <a:rPr lang="en-IN" b="1" dirty="0"/>
              <a:t>momentum metrics.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43FDD5-0AB7-D84C-6F4C-6B68DEE0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398" y="1099876"/>
            <a:ext cx="7916380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1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5695-B8C5-7C5B-EA73-B0CC6702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3: Momentum Proves Superior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534302-B1E8-801F-95AA-4D5AE1FF09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07EB6-1FF4-E641-EA11-0FEB60873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Rolling Form Metrics</a:t>
            </a:r>
            <a:r>
              <a:rPr lang="en-IN" dirty="0"/>
              <a:t> are the </a:t>
            </a:r>
            <a:r>
              <a:rPr lang="en-IN" b="1" dirty="0"/>
              <a:t>Top 3</a:t>
            </a:r>
            <a:r>
              <a:rPr lang="en-IN" dirty="0"/>
              <a:t> most influential predictors in the </a:t>
            </a:r>
            <a:r>
              <a:rPr lang="en-IN" dirty="0" err="1"/>
              <a:t>XGBoost</a:t>
            </a:r>
            <a:r>
              <a:rPr lang="en-IN" dirty="0"/>
              <a:t> model</a:t>
            </a:r>
            <a:r>
              <a:rPr lang="en-IN"/>
              <a:t>. 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The model overwhelmingly relies on features engineered to capture </a:t>
            </a:r>
            <a:r>
              <a:rPr lang="en-IN" b="1" dirty="0"/>
              <a:t>recent form trend and momentum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Critical Validation:</a:t>
            </a:r>
            <a:r>
              <a:rPr lang="en-IN" dirty="0"/>
              <a:t> This finding empirically proves the project's core hypothesis: </a:t>
            </a:r>
            <a:r>
              <a:rPr lang="en-IN" b="1" dirty="0"/>
              <a:t>Momentum is a significantly more potent predictor than a team's long-term average position or static stats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82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E0E2-2B37-FCBF-CE03-5A2F0CBCE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Evaluation: Model Performance &amp; Key Drivers (</a:t>
            </a:r>
            <a:r>
              <a:rPr lang="en-IN" dirty="0" err="1"/>
              <a:t>XGBoost</a:t>
            </a:r>
            <a:r>
              <a:rPr lang="en-IN" dirty="0"/>
              <a:t>)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38DC5C-E375-6A23-EA22-058718D2BE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55CDC-ED9B-740D-AFA4-689557335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Overall Accuracy: 66%</a:t>
            </a:r>
            <a:endParaRPr lang="en-IN" dirty="0"/>
          </a:p>
          <a:p>
            <a:r>
              <a:rPr lang="en-IN" b="1" dirty="0"/>
              <a:t>Baseline:</a:t>
            </a:r>
            <a:r>
              <a:rPr lang="en-IN" dirty="0"/>
              <a:t> 46.12% (Home Win Bias)</a:t>
            </a:r>
          </a:p>
          <a:p>
            <a:r>
              <a:rPr lang="en-IN" b="1" dirty="0"/>
              <a:t>Improvement:</a:t>
            </a:r>
            <a:r>
              <a:rPr lang="en-IN" dirty="0"/>
              <a:t> +20% predictive power over the baseline.</a:t>
            </a:r>
          </a:p>
          <a:p>
            <a:r>
              <a:rPr lang="en-IN" i="1" dirty="0"/>
              <a:t>Implication:</a:t>
            </a:r>
            <a:r>
              <a:rPr lang="en-IN" dirty="0"/>
              <a:t> The model successfully identifies Draw and Away Win scenarios that the baseline misses.</a:t>
            </a:r>
          </a:p>
          <a:p>
            <a:r>
              <a:rPr lang="en-IN" b="1" dirty="0"/>
              <a:t>Key Takeaway:</a:t>
            </a:r>
            <a:r>
              <a:rPr lang="en-IN" dirty="0"/>
              <a:t> The model is highly</a:t>
            </a:r>
          </a:p>
          <a:p>
            <a:pPr marL="69850" indent="0">
              <a:buNone/>
            </a:pPr>
            <a:r>
              <a:rPr lang="en-IN" dirty="0"/>
              <a:t> effective at predicting Wins/Losses </a:t>
            </a:r>
          </a:p>
          <a:p>
            <a:pPr marL="69850" indent="0">
              <a:buNone/>
            </a:pPr>
            <a:r>
              <a:rPr lang="en-IN" dirty="0"/>
              <a:t>(F1 ~0.70+) but struggles to </a:t>
            </a:r>
          </a:p>
          <a:p>
            <a:pPr marL="69850" indent="0">
              <a:buNone/>
            </a:pPr>
            <a:r>
              <a:rPr lang="en-IN" dirty="0"/>
              <a:t>distinguish Draws (F1 0.26), which is a </a:t>
            </a:r>
          </a:p>
          <a:p>
            <a:pPr marL="69850" indent="0">
              <a:buNone/>
            </a:pPr>
            <a:r>
              <a:rPr lang="en-IN" dirty="0"/>
              <a:t>common challenge in sports analytics.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B32327-40A5-F5A4-BA0C-401961BC3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3429000"/>
            <a:ext cx="5953956" cy="2553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01098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BFEA-01A0-C3A6-F86C-FFFBA471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Finding: Top Predictive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9C8EED-9DB6-D2A0-599D-6ECE9E2003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B0A45-6ADE-A3E4-A4AF-CE1FEA4BB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Match State: Half-Time Scores </a:t>
            </a:r>
            <a:r>
              <a:rPr lang="en-IN" b="1" i="1" dirty="0"/>
              <a:t>(</a:t>
            </a:r>
            <a:r>
              <a:rPr lang="en-IN" b="1" i="1" dirty="0" err="1"/>
              <a:t>home_ht_score</a:t>
            </a:r>
            <a:r>
              <a:rPr lang="en-IN" b="1" i="1" dirty="0"/>
              <a:t> &amp; </a:t>
            </a:r>
            <a:r>
              <a:rPr lang="en-IN" b="1" i="1" dirty="0" err="1"/>
              <a:t>away_ht_score</a:t>
            </a:r>
            <a:r>
              <a:rPr lang="en-IN" b="1" i="1" dirty="0"/>
              <a:t>)</a:t>
            </a:r>
            <a:r>
              <a:rPr lang="en-IN" dirty="0"/>
              <a:t> are the number 1 predictors. </a:t>
            </a:r>
          </a:p>
          <a:p>
            <a:r>
              <a:rPr lang="en-IN" dirty="0"/>
              <a:t>Momentum: Shots on Target </a:t>
            </a:r>
            <a:r>
              <a:rPr lang="en-IN" b="1" i="1" dirty="0"/>
              <a:t>(</a:t>
            </a:r>
            <a:r>
              <a:rPr lang="en-IN" b="1" i="1" dirty="0" err="1"/>
              <a:t>shotsON</a:t>
            </a:r>
            <a:r>
              <a:rPr lang="en-IN" b="1" i="1" dirty="0"/>
              <a:t>)</a:t>
            </a:r>
            <a:r>
              <a:rPr lang="en-IN" dirty="0"/>
              <a:t> and Red Cards </a:t>
            </a:r>
            <a:r>
              <a:rPr lang="en-IN" b="1" i="1" dirty="0"/>
              <a:t>(reds)</a:t>
            </a:r>
            <a:r>
              <a:rPr lang="en-IN" dirty="0"/>
              <a:t> significantly impact the final whistle. </a:t>
            </a:r>
          </a:p>
          <a:p>
            <a:r>
              <a:rPr lang="en-IN" dirty="0"/>
              <a:t>Form: Recent performance history</a:t>
            </a:r>
          </a:p>
          <a:p>
            <a:pPr marL="69850" indent="0">
              <a:buNone/>
            </a:pPr>
            <a:r>
              <a:rPr lang="en-IN" dirty="0"/>
              <a:t> </a:t>
            </a:r>
            <a:r>
              <a:rPr lang="en-IN" b="1" i="1" dirty="0"/>
              <a:t>(</a:t>
            </a:r>
            <a:r>
              <a:rPr lang="en-IN" b="1" i="1" dirty="0" err="1"/>
              <a:t>performance_last_five</a:t>
            </a:r>
            <a:r>
              <a:rPr lang="en-IN" b="1" i="1" dirty="0"/>
              <a:t>)</a:t>
            </a:r>
            <a:r>
              <a:rPr lang="en-IN" dirty="0"/>
              <a:t> validates</a:t>
            </a:r>
          </a:p>
          <a:p>
            <a:pPr marL="69850" indent="0">
              <a:buNone/>
            </a:pPr>
            <a:r>
              <a:rPr lang="en-IN" dirty="0"/>
              <a:t> the "Momentum" hypothesis.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D2D81-C629-FF9D-4685-11F9ECC03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799" y="3070276"/>
            <a:ext cx="5715798" cy="33437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26149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06DC-F671-4581-DB65-D4F8C3BF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Study Limitations &amp; Ethical Considerations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EB0080-EF04-97DC-4872-AD96C06B99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B7CD-4E87-E9F3-832D-F6633CB6F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Data Granularity:</a:t>
            </a:r>
            <a:r>
              <a:rPr lang="en-IN" dirty="0"/>
              <a:t> Model lacks crucial data like </a:t>
            </a:r>
            <a:r>
              <a:rPr lang="en-IN" b="1" dirty="0"/>
              <a:t>Expected Goals (</a:t>
            </a:r>
            <a:r>
              <a:rPr lang="en-IN" b="1" dirty="0" err="1"/>
              <a:t>xG</a:t>
            </a:r>
            <a:r>
              <a:rPr lang="en-IN" b="1" dirty="0"/>
              <a:t>)</a:t>
            </a:r>
            <a:r>
              <a:rPr lang="en-IN" dirty="0"/>
              <a:t>, player tracking, and injury reports.</a:t>
            </a:r>
            <a:endParaRPr lang="en-IN" b="1" dirty="0"/>
          </a:p>
          <a:p>
            <a:r>
              <a:rPr lang="en-IN" b="1" dirty="0"/>
              <a:t>Draw Class:</a:t>
            </a:r>
            <a:r>
              <a:rPr lang="en-IN" dirty="0"/>
              <a:t> Still the most challenging outcome to predict accurately, suggesting more complex features are needed. </a:t>
            </a:r>
            <a:r>
              <a:rPr lang="en-IN" b="1" dirty="0"/>
              <a:t>Ethical Considerations:</a:t>
            </a:r>
          </a:p>
          <a:p>
            <a:r>
              <a:rPr lang="en-IN" b="1" dirty="0"/>
              <a:t>Structural Bias:</a:t>
            </a:r>
            <a:r>
              <a:rPr lang="en-IN" dirty="0"/>
              <a:t> Model may perpetuate existing inequalities by </a:t>
            </a:r>
            <a:r>
              <a:rPr lang="en-IN" dirty="0" err="1"/>
              <a:t>favoring</a:t>
            </a:r>
            <a:r>
              <a:rPr lang="en-IN" dirty="0"/>
              <a:t> historically dominant teams.</a:t>
            </a:r>
          </a:p>
          <a:p>
            <a:r>
              <a:rPr lang="en-IN" b="1" dirty="0"/>
              <a:t>Usage Disclaimer:</a:t>
            </a:r>
            <a:r>
              <a:rPr lang="en-IN" dirty="0"/>
              <a:t> The output is a </a:t>
            </a:r>
            <a:r>
              <a:rPr lang="en-IN" b="1" dirty="0"/>
              <a:t>statistical probability</a:t>
            </a:r>
            <a:r>
              <a:rPr lang="en-IN" dirty="0"/>
              <a:t>, not a guaranteed outcome.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897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0D0A-A05D-1ACF-105B-A251A15E3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 &amp; Recommendations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CACDA-A7CB-2C60-3E23-25064BE0A5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B92CA-852A-4D5E-B391-64356C6E1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Feature Integration:</a:t>
            </a:r>
            <a:r>
              <a:rPr lang="en-IN" dirty="0"/>
              <a:t> Immediately incorporate </a:t>
            </a:r>
            <a:r>
              <a:rPr lang="en-IN" b="1" dirty="0" err="1"/>
              <a:t>xG</a:t>
            </a:r>
            <a:r>
              <a:rPr lang="en-IN" b="1" dirty="0"/>
              <a:t> and Player Injury Data</a:t>
            </a:r>
            <a:r>
              <a:rPr lang="en-IN" dirty="0"/>
              <a:t> to increase predictive power (Reference: Bandara et al., 2024).</a:t>
            </a:r>
          </a:p>
          <a:p>
            <a:endParaRPr lang="en-IN" b="1" dirty="0"/>
          </a:p>
          <a:p>
            <a:r>
              <a:rPr lang="en-IN" b="1" dirty="0"/>
              <a:t>Advanced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Explore </a:t>
            </a:r>
            <a:r>
              <a:rPr lang="en-IN" b="1" dirty="0"/>
              <a:t>LSTMs/RNNs</a:t>
            </a:r>
            <a:r>
              <a:rPr lang="en-IN" dirty="0"/>
              <a:t> to capture the temporal </a:t>
            </a:r>
            <a:r>
              <a:rPr lang="en-IN" i="1" dirty="0"/>
              <a:t>sequence and order</a:t>
            </a:r>
            <a:r>
              <a:rPr lang="en-IN" dirty="0"/>
              <a:t> of team momentum more deeply.</a:t>
            </a:r>
          </a:p>
          <a:p>
            <a:endParaRPr lang="en-IN" b="1" dirty="0"/>
          </a:p>
          <a:p>
            <a:r>
              <a:rPr lang="en-IN" b="1" dirty="0"/>
              <a:t>Deployment:</a:t>
            </a:r>
            <a:r>
              <a:rPr lang="en-IN" dirty="0"/>
              <a:t> Develop a user-friendly </a:t>
            </a:r>
            <a:r>
              <a:rPr lang="en-IN" b="1" dirty="0" err="1"/>
              <a:t>Streamlit</a:t>
            </a:r>
            <a:r>
              <a:rPr lang="en-IN" b="1" dirty="0"/>
              <a:t>/Flask Demo Application</a:t>
            </a:r>
            <a:r>
              <a:rPr lang="en-IN" dirty="0"/>
              <a:t> for practical visualization and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367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4233-F4F0-FEB6-BDCA-CD053817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 Summary &amp; Implications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C3476-B097-A16D-08FB-F314A1804C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F5F11-A1EB-2FBE-01D2-6BE4C4A9C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Q 1 (Static vs. Dynamic):</a:t>
            </a:r>
            <a:r>
              <a:rPr lang="en-IN" dirty="0"/>
              <a:t> Momentum features proved superior.</a:t>
            </a:r>
            <a:endParaRPr lang="en-IN" b="1" dirty="0"/>
          </a:p>
          <a:p>
            <a:r>
              <a:rPr lang="en-IN" b="1" dirty="0"/>
              <a:t>Q 2 (HA):</a:t>
            </a:r>
            <a:r>
              <a:rPr lang="en-IN" dirty="0"/>
              <a:t> Confirmed as a stable performance floor.</a:t>
            </a:r>
            <a:endParaRPr lang="en-IN" b="1" dirty="0"/>
          </a:p>
          <a:p>
            <a:r>
              <a:rPr lang="en-IN" b="1" dirty="0"/>
              <a:t>Q 3 (Temporal Integrity):</a:t>
            </a:r>
            <a:r>
              <a:rPr lang="en-IN" dirty="0"/>
              <a:t> Achieved robust, unbiased metrics via TSCV. </a:t>
            </a:r>
          </a:p>
          <a:p>
            <a:endParaRPr lang="en-IN" b="1" dirty="0"/>
          </a:p>
          <a:p>
            <a:r>
              <a:rPr lang="en-IN" b="1" dirty="0"/>
              <a:t>Final Implications:</a:t>
            </a:r>
            <a:endParaRPr lang="en-IN" dirty="0"/>
          </a:p>
          <a:p>
            <a:pPr marL="69850" indent="0">
              <a:buNone/>
            </a:pPr>
            <a:r>
              <a:rPr lang="en-IN" dirty="0"/>
              <a:t>The </a:t>
            </a:r>
            <a:r>
              <a:rPr lang="en-IN" dirty="0" err="1"/>
              <a:t>XGBoost</a:t>
            </a:r>
            <a:r>
              <a:rPr lang="en-IN" dirty="0"/>
              <a:t> model provides a </a:t>
            </a:r>
            <a:r>
              <a:rPr lang="en-IN" b="1" dirty="0"/>
              <a:t>stable and temporally valid</a:t>
            </a:r>
            <a:r>
              <a:rPr lang="en-IN" dirty="0"/>
              <a:t> framework for forecasting EPL outcomes.</a:t>
            </a:r>
          </a:p>
          <a:p>
            <a:pPr marL="69850" indent="0">
              <a:buNone/>
            </a:pPr>
            <a:r>
              <a:rPr lang="en-IN" dirty="0"/>
              <a:t>Model is suitable for sophisticated analytical applications, financial risk management, and strategic betting models</a:t>
            </a:r>
          </a:p>
          <a:p>
            <a:pPr marL="6985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748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583B-5CAF-7F3D-A5F1-948D5594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9AED6A-D559-0C6E-4955-9AC6782F7A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A4A6E-E069-D2A4-CC5E-F83AB2592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Bandara, I., </a:t>
            </a:r>
            <a:r>
              <a:rPr lang="en-IN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Shelyag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S., </a:t>
            </a:r>
            <a:r>
              <a:rPr lang="en-IN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Rajasegarar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S., Dwyer, D., Kim, E.-J., &amp; Angelova, M. (2024). Predicting goal probabilities with improved </a:t>
            </a:r>
            <a:r>
              <a:rPr lang="en-IN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xG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models using event sequences in association football. </a:t>
            </a:r>
            <a:r>
              <a:rPr lang="en-IN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PLOS ONE, 19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(10), e0312278. </a:t>
            </a:r>
            <a:r>
              <a:rPr lang="en-IN" sz="1200" u="sng" dirty="0">
                <a:solidFill>
                  <a:srgbClr val="004C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2"/>
              </a:rPr>
              <a:t>https://doi.org/10.1371/journal.pone.0312278</a:t>
            </a:r>
            <a:endParaRPr lang="en-IN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Constantinou, A. C., &amp; Fenton, N. (2017). Towards smart-data: Improving predictive accuracy in long-term football team performance. *Knowledge-Based Systems, 124*, 93–104. </a:t>
            </a:r>
            <a:r>
              <a:rPr lang="en-IN" sz="1200" u="sng" dirty="0">
                <a:solidFill>
                  <a:srgbClr val="004C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3"/>
              </a:rPr>
              <a:t>https://doi.org/10.1016/j.knosys.2017.02.017</a:t>
            </a:r>
            <a:endParaRPr lang="en-IN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Heuer, A., Müller, C., &amp; Rubner, O. (2010). Soccer: Is scoring goals a predictable </a:t>
            </a:r>
            <a:r>
              <a:rPr lang="en-IN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Poissonian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process? </a:t>
            </a:r>
            <a:r>
              <a:rPr lang="en-IN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EPL (</a:t>
            </a:r>
            <a:r>
              <a:rPr lang="en-IN" sz="12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Europhysics</a:t>
            </a:r>
            <a:r>
              <a:rPr lang="en-IN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Letters), 89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(3), 38007. </a:t>
            </a:r>
            <a:r>
              <a:rPr lang="en-IN" sz="1200" u="sng" dirty="0">
                <a:solidFill>
                  <a:srgbClr val="004C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https://doi.org/10.1209/0295-5075/89/38007</a:t>
            </a:r>
            <a:endParaRPr lang="en-IN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Kosttsakul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G. (2025). Sport analytics data for player performance and financial risk management. </a:t>
            </a:r>
            <a:r>
              <a:rPr lang="en-IN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Journal of Financial Risk Management, 14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(3), 270–284. </a:t>
            </a:r>
            <a:r>
              <a:rPr lang="en-IN" sz="1200" u="sng" dirty="0">
                <a:solidFill>
                  <a:srgbClr val="004C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https://doi.org/10.4236/jfrm.2025.143015</a:t>
            </a:r>
            <a:endParaRPr lang="en-IN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Pappalardo, L., Cintia, P., Rossi, A., Massucco, E., </a:t>
            </a:r>
            <a:r>
              <a:rPr lang="en-IN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Ferragina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P., &amp; Giannotti, F. (2019). A public data set of </a:t>
            </a:r>
            <a:r>
              <a:rPr lang="en-IN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spatio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-temporal match events in soccer competitions. </a:t>
            </a:r>
            <a:r>
              <a:rPr lang="en-IN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Scientific Data, 6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(1), 236. </a:t>
            </a:r>
            <a:r>
              <a:rPr lang="en-IN" sz="1200" u="sng" dirty="0">
                <a:solidFill>
                  <a:srgbClr val="004C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/>
              </a:rPr>
              <a:t>https://doi.org/10.1038/s41597-019-0247-7</a:t>
            </a:r>
            <a:endParaRPr lang="en-IN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Wheatcroft, E. (2021). Forecasting football matches by predicting match statistics. </a:t>
            </a:r>
            <a:r>
              <a:rPr lang="en-IN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Journal of Sports Analytics, 7</a:t>
            </a:r>
            <a:r>
              <a:rPr lang="en-IN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(2), 1–48. </a:t>
            </a:r>
            <a:r>
              <a:rPr lang="en-IN" sz="1200" u="sng" dirty="0">
                <a:solidFill>
                  <a:srgbClr val="004C9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7"/>
              </a:rPr>
              <a:t>https://doi.org/10.3233/JSA-200505</a:t>
            </a:r>
            <a:endParaRPr lang="en-IN" sz="1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67259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298E-C4EC-65F4-3255-FC5DAA77A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96F90-8A28-7F79-7A26-7D1D2CFD8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Jocelyn John Mascarenhas</a:t>
            </a:r>
          </a:p>
          <a:p>
            <a:r>
              <a:rPr lang="en-IN" dirty="0"/>
              <a:t>501345877</a:t>
            </a:r>
          </a:p>
        </p:txBody>
      </p:sp>
    </p:spTree>
    <p:extLst>
      <p:ext uri="{BB962C8B-B14F-4D97-AF65-F5344CB8AC3E}">
        <p14:creationId xmlns:p14="http://schemas.microsoft.com/office/powerpoint/2010/main" val="174182609"/>
      </p:ext>
    </p:extLst>
  </p:cSld>
  <p:clrMapOvr>
    <a:masterClrMapping/>
  </p:clrMapOvr>
</p:sld>
</file>

<file path=ppt/theme/theme1.xml><?xml version="1.0" encoding="utf-8"?>
<a:theme xmlns:a="http://schemas.openxmlformats.org/drawingml/2006/main" name="TorontoMet_MasterTemplate v1">
  <a:themeElements>
    <a:clrScheme name="Ryerson University">
      <a:dk1>
        <a:srgbClr val="000000"/>
      </a:dk1>
      <a:lt1>
        <a:srgbClr val="FFFFFF"/>
      </a:lt1>
      <a:dk2>
        <a:srgbClr val="004C9B"/>
      </a:dk2>
      <a:lt2>
        <a:srgbClr val="FFDC00"/>
      </a:lt2>
      <a:accent1>
        <a:srgbClr val="011E5E"/>
      </a:accent1>
      <a:accent2>
        <a:srgbClr val="1297EB"/>
      </a:accent2>
      <a:accent3>
        <a:srgbClr val="4CB4F1"/>
      </a:accent3>
      <a:accent4>
        <a:srgbClr val="FD9208"/>
      </a:accent4>
      <a:accent5>
        <a:srgbClr val="FEBC0D"/>
      </a:accent5>
      <a:accent6>
        <a:srgbClr val="FFEE0A"/>
      </a:accent6>
      <a:hlink>
        <a:srgbClr val="004C9B"/>
      </a:hlink>
      <a:folHlink>
        <a:srgbClr val="D0D0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1251</Words>
  <Application>Microsoft Office PowerPoint</Application>
  <PresentationFormat>Custom</PresentationFormat>
  <Paragraphs>128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Times New Roman</vt:lpstr>
      <vt:lpstr>Calibri</vt:lpstr>
      <vt:lpstr>Arial</vt:lpstr>
      <vt:lpstr>TorontoMet_MasterTemplate v1</vt:lpstr>
      <vt:lpstr>EPL- Predictive Analytics</vt:lpstr>
      <vt:lpstr>Research Questions &amp; Significance</vt:lpstr>
      <vt:lpstr>Significance Callout:</vt:lpstr>
      <vt:lpstr>Phased Methodology Overview(Modeling Pipeline)</vt:lpstr>
      <vt:lpstr>Methodology Deep Dive: Preventing  Temporal Bias</vt:lpstr>
      <vt:lpstr>Data and Feature Engineering</vt:lpstr>
      <vt:lpstr>Data Characterization: The Goal-Scoring Process </vt:lpstr>
      <vt:lpstr>Finding 1: Performance Floor (Home Advantage) </vt:lpstr>
      <vt:lpstr>Finding 2: Static Predictors Are Weak </vt:lpstr>
      <vt:lpstr>Finding 3: Momentum Proves Superior </vt:lpstr>
      <vt:lpstr>Performance Evaluation: Model Performance &amp; Key Drivers (XGBoost) </vt:lpstr>
      <vt:lpstr>Key Finding: Top Predictive Features</vt:lpstr>
      <vt:lpstr>Study Limitations &amp; Ethical Considerations </vt:lpstr>
      <vt:lpstr>Future Work &amp; Recommendations </vt:lpstr>
      <vt:lpstr>Conclusion: Summary &amp; Implications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JOCELYN</dc:creator>
  <cp:lastModifiedBy>JOCELYN MASCARENHAS</cp:lastModifiedBy>
  <cp:revision>5</cp:revision>
  <dcterms:modified xsi:type="dcterms:W3CDTF">2025-12-02T21:18:05Z</dcterms:modified>
</cp:coreProperties>
</file>